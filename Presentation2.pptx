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71" r:id="rId4"/>
    <p:sldId id="272" r:id="rId5"/>
    <p:sldId id="259" r:id="rId6"/>
    <p:sldId id="260" r:id="rId7"/>
    <p:sldId id="261" r:id="rId8"/>
    <p:sldId id="262" r:id="rId9"/>
    <p:sldId id="263" r:id="rId10"/>
    <p:sldId id="264" r:id="rId11"/>
    <p:sldId id="265" r:id="rId12"/>
    <p:sldId id="269" r:id="rId13"/>
    <p:sldId id="270" r:id="rId14"/>
    <p:sldId id="266" r:id="rId15"/>
    <p:sldId id="267" r:id="rId16"/>
    <p:sldId id="268"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3" d="100"/>
          <a:sy n="73" d="100"/>
        </p:scale>
        <p:origin x="61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7B6E95E-BD86-4BCD-8066-7BFB8E92F933}" type="datetimeFigureOut">
              <a:rPr lang="en-US" smtClean="0"/>
              <a:t>2/14/2025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BC41627-425A-4E59-9E0E-BD262057E956}" type="slidenum">
              <a:rPr lang="en-US" smtClean="0"/>
              <a:t>‹#›</a:t>
            </a:fld>
            <a:endParaRPr lang="en-US"/>
          </a:p>
        </p:txBody>
      </p:sp>
    </p:spTree>
    <p:extLst>
      <p:ext uri="{BB962C8B-B14F-4D97-AF65-F5344CB8AC3E}">
        <p14:creationId xmlns:p14="http://schemas.microsoft.com/office/powerpoint/2010/main" val="22603724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7B6E95E-BD86-4BCD-8066-7BFB8E92F933}" type="datetimeFigureOut">
              <a:rPr lang="en-US" smtClean="0"/>
              <a:t>2/14/2025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BC41627-425A-4E59-9E0E-BD262057E956}" type="slidenum">
              <a:rPr lang="en-US" smtClean="0"/>
              <a:t>‹#›</a:t>
            </a:fld>
            <a:endParaRPr lang="en-US"/>
          </a:p>
        </p:txBody>
      </p:sp>
    </p:spTree>
    <p:extLst>
      <p:ext uri="{BB962C8B-B14F-4D97-AF65-F5344CB8AC3E}">
        <p14:creationId xmlns:p14="http://schemas.microsoft.com/office/powerpoint/2010/main" val="30633402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7B6E95E-BD86-4BCD-8066-7BFB8E92F933}" type="datetimeFigureOut">
              <a:rPr lang="en-US" smtClean="0"/>
              <a:t>2/14/2025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BC41627-425A-4E59-9E0E-BD262057E956}" type="slidenum">
              <a:rPr lang="en-US" smtClean="0"/>
              <a:t>‹#›</a:t>
            </a:fld>
            <a:endParaRPr lang="en-US"/>
          </a:p>
        </p:txBody>
      </p:sp>
    </p:spTree>
    <p:extLst>
      <p:ext uri="{BB962C8B-B14F-4D97-AF65-F5344CB8AC3E}">
        <p14:creationId xmlns:p14="http://schemas.microsoft.com/office/powerpoint/2010/main" val="27635635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7B6E95E-BD86-4BCD-8066-7BFB8E92F933}" type="datetimeFigureOut">
              <a:rPr lang="en-US" smtClean="0"/>
              <a:t>2/14/2025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BC41627-425A-4E59-9E0E-BD262057E956}" type="slidenum">
              <a:rPr lang="en-US" smtClean="0"/>
              <a:t>‹#›</a:t>
            </a:fld>
            <a:endParaRPr lang="en-US"/>
          </a:p>
        </p:txBody>
      </p:sp>
    </p:spTree>
    <p:extLst>
      <p:ext uri="{BB962C8B-B14F-4D97-AF65-F5344CB8AC3E}">
        <p14:creationId xmlns:p14="http://schemas.microsoft.com/office/powerpoint/2010/main" val="15750668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7B6E95E-BD86-4BCD-8066-7BFB8E92F933}" type="datetimeFigureOut">
              <a:rPr lang="en-US" smtClean="0"/>
              <a:t>2/14/2025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BC41627-425A-4E59-9E0E-BD262057E956}" type="slidenum">
              <a:rPr lang="en-US" smtClean="0"/>
              <a:t>‹#›</a:t>
            </a:fld>
            <a:endParaRPr lang="en-US"/>
          </a:p>
        </p:txBody>
      </p:sp>
    </p:spTree>
    <p:extLst>
      <p:ext uri="{BB962C8B-B14F-4D97-AF65-F5344CB8AC3E}">
        <p14:creationId xmlns:p14="http://schemas.microsoft.com/office/powerpoint/2010/main" val="39162220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7B6E95E-BD86-4BCD-8066-7BFB8E92F933}" type="datetimeFigureOut">
              <a:rPr lang="en-US" smtClean="0"/>
              <a:t>2/14/2025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BC41627-425A-4E59-9E0E-BD262057E956}" type="slidenum">
              <a:rPr lang="en-US" smtClean="0"/>
              <a:t>‹#›</a:t>
            </a:fld>
            <a:endParaRPr lang="en-US"/>
          </a:p>
        </p:txBody>
      </p:sp>
    </p:spTree>
    <p:extLst>
      <p:ext uri="{BB962C8B-B14F-4D97-AF65-F5344CB8AC3E}">
        <p14:creationId xmlns:p14="http://schemas.microsoft.com/office/powerpoint/2010/main" val="15571105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7B6E95E-BD86-4BCD-8066-7BFB8E92F933}" type="datetimeFigureOut">
              <a:rPr lang="en-US" smtClean="0"/>
              <a:t>2/14/2025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BC41627-425A-4E59-9E0E-BD262057E956}" type="slidenum">
              <a:rPr lang="en-US" smtClean="0"/>
              <a:t>‹#›</a:t>
            </a:fld>
            <a:endParaRPr lang="en-US"/>
          </a:p>
        </p:txBody>
      </p:sp>
    </p:spTree>
    <p:extLst>
      <p:ext uri="{BB962C8B-B14F-4D97-AF65-F5344CB8AC3E}">
        <p14:creationId xmlns:p14="http://schemas.microsoft.com/office/powerpoint/2010/main" val="22387488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7B6E95E-BD86-4BCD-8066-7BFB8E92F933}" type="datetimeFigureOut">
              <a:rPr lang="en-US" smtClean="0"/>
              <a:t>2/14/2025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BC41627-425A-4E59-9E0E-BD262057E956}" type="slidenum">
              <a:rPr lang="en-US" smtClean="0"/>
              <a:t>‹#›</a:t>
            </a:fld>
            <a:endParaRPr lang="en-US"/>
          </a:p>
        </p:txBody>
      </p:sp>
    </p:spTree>
    <p:extLst>
      <p:ext uri="{BB962C8B-B14F-4D97-AF65-F5344CB8AC3E}">
        <p14:creationId xmlns:p14="http://schemas.microsoft.com/office/powerpoint/2010/main" val="7797092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7B6E95E-BD86-4BCD-8066-7BFB8E92F933}" type="datetimeFigureOut">
              <a:rPr lang="en-US" smtClean="0"/>
              <a:t>2/14/2025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BC41627-425A-4E59-9E0E-BD262057E956}" type="slidenum">
              <a:rPr lang="en-US" smtClean="0"/>
              <a:t>‹#›</a:t>
            </a:fld>
            <a:endParaRPr lang="en-US"/>
          </a:p>
        </p:txBody>
      </p:sp>
    </p:spTree>
    <p:extLst>
      <p:ext uri="{BB962C8B-B14F-4D97-AF65-F5344CB8AC3E}">
        <p14:creationId xmlns:p14="http://schemas.microsoft.com/office/powerpoint/2010/main" val="35662090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7B6E95E-BD86-4BCD-8066-7BFB8E92F933}" type="datetimeFigureOut">
              <a:rPr lang="en-US" smtClean="0"/>
              <a:t>2/14/2025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BC41627-425A-4E59-9E0E-BD262057E956}" type="slidenum">
              <a:rPr lang="en-US" smtClean="0"/>
              <a:t>‹#›</a:t>
            </a:fld>
            <a:endParaRPr lang="en-US"/>
          </a:p>
        </p:txBody>
      </p:sp>
    </p:spTree>
    <p:extLst>
      <p:ext uri="{BB962C8B-B14F-4D97-AF65-F5344CB8AC3E}">
        <p14:creationId xmlns:p14="http://schemas.microsoft.com/office/powerpoint/2010/main" val="11188486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7B6E95E-BD86-4BCD-8066-7BFB8E92F933}" type="datetimeFigureOut">
              <a:rPr lang="en-US" smtClean="0"/>
              <a:t>2/14/2025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BC41627-425A-4E59-9E0E-BD262057E956}" type="slidenum">
              <a:rPr lang="en-US" smtClean="0"/>
              <a:t>‹#›</a:t>
            </a:fld>
            <a:endParaRPr lang="en-US"/>
          </a:p>
        </p:txBody>
      </p:sp>
    </p:spTree>
    <p:extLst>
      <p:ext uri="{BB962C8B-B14F-4D97-AF65-F5344CB8AC3E}">
        <p14:creationId xmlns:p14="http://schemas.microsoft.com/office/powerpoint/2010/main" val="3536255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7B6E95E-BD86-4BCD-8066-7BFB8E92F933}" type="datetimeFigureOut">
              <a:rPr lang="en-US" smtClean="0"/>
              <a:t>2/14/2025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BC41627-425A-4E59-9E0E-BD262057E956}" type="slidenum">
              <a:rPr lang="en-US" smtClean="0"/>
              <a:t>‹#›</a:t>
            </a:fld>
            <a:endParaRPr lang="en-US"/>
          </a:p>
        </p:txBody>
      </p:sp>
    </p:spTree>
    <p:extLst>
      <p:ext uri="{BB962C8B-B14F-4D97-AF65-F5344CB8AC3E}">
        <p14:creationId xmlns:p14="http://schemas.microsoft.com/office/powerpoint/2010/main" val="93442077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 Id="rId5" Type="http://schemas.openxmlformats.org/officeDocument/2006/relationships/hyperlink" Target="http://www.matrusri.edu.in/" TargetMode="Externa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844648"/>
            <a:ext cx="9144000" cy="3118641"/>
          </a:xfrm>
        </p:spPr>
        <p:txBody>
          <a:bodyPr>
            <a:normAutofit/>
          </a:bodyPr>
          <a:lstStyle/>
          <a:p>
            <a:r>
              <a:rPr lang="en-US" sz="4000" b="1" dirty="0" smtClean="0">
                <a:latin typeface="Times New Roman" panose="02020603050405020304" pitchFamily="18" charset="0"/>
                <a:cs typeface="Times New Roman" panose="02020603050405020304" pitchFamily="18" charset="0"/>
              </a:rPr>
              <a:t/>
            </a:r>
            <a:br>
              <a:rPr lang="en-US" sz="4000" b="1" dirty="0" smtClean="0">
                <a:latin typeface="Times New Roman" panose="02020603050405020304" pitchFamily="18" charset="0"/>
                <a:cs typeface="Times New Roman" panose="02020603050405020304" pitchFamily="18" charset="0"/>
              </a:rPr>
            </a:br>
            <a:r>
              <a:rPr lang="en-US" sz="4000" b="1" dirty="0">
                <a:latin typeface="Times New Roman" panose="02020603050405020304" pitchFamily="18" charset="0"/>
                <a:cs typeface="Times New Roman" panose="02020603050405020304" pitchFamily="18" charset="0"/>
              </a:rPr>
              <a:t/>
            </a:r>
            <a:br>
              <a:rPr lang="en-US" sz="4000" b="1" dirty="0">
                <a:latin typeface="Times New Roman" panose="02020603050405020304" pitchFamily="18" charset="0"/>
                <a:cs typeface="Times New Roman" panose="02020603050405020304" pitchFamily="18" charset="0"/>
              </a:rPr>
            </a:br>
            <a:r>
              <a:rPr lang="en-US" sz="2400" b="1" dirty="0" smtClean="0">
                <a:latin typeface="Times New Roman" panose="02020603050405020304" pitchFamily="18" charset="0"/>
                <a:cs typeface="Times New Roman" panose="02020603050405020304" pitchFamily="18" charset="0"/>
              </a:rPr>
              <a:t>Summer Internship on</a:t>
            </a:r>
            <a:r>
              <a:rPr lang="en-US" sz="4000" b="1" dirty="0" smtClean="0">
                <a:latin typeface="Times New Roman" panose="02020603050405020304" pitchFamily="18" charset="0"/>
                <a:cs typeface="Times New Roman" panose="02020603050405020304" pitchFamily="18" charset="0"/>
              </a:rPr>
              <a:t/>
            </a:r>
            <a:br>
              <a:rPr lang="en-US" sz="4000" b="1" dirty="0" smtClean="0">
                <a:latin typeface="Times New Roman" panose="02020603050405020304" pitchFamily="18" charset="0"/>
                <a:cs typeface="Times New Roman" panose="02020603050405020304" pitchFamily="18" charset="0"/>
              </a:rPr>
            </a:br>
            <a:r>
              <a:rPr lang="en-US" sz="4000" b="1" dirty="0" smtClean="0">
                <a:solidFill>
                  <a:srgbClr val="002060"/>
                </a:solidFill>
                <a:latin typeface="Times New Roman" panose="02020603050405020304" pitchFamily="18" charset="0"/>
                <a:cs typeface="Times New Roman" panose="02020603050405020304" pitchFamily="18" charset="0"/>
              </a:rPr>
              <a:t>Email Spam Detection </a:t>
            </a:r>
            <a:r>
              <a:rPr lang="en-US" sz="4000" b="1" dirty="0">
                <a:solidFill>
                  <a:srgbClr val="002060"/>
                </a:solidFill>
                <a:latin typeface="Times New Roman" panose="02020603050405020304" pitchFamily="18" charset="0"/>
                <a:cs typeface="Times New Roman" panose="02020603050405020304" pitchFamily="18" charset="0"/>
              </a:rPr>
              <a:t>using Machine Learning </a:t>
            </a:r>
            <a:r>
              <a:rPr lang="en-US" sz="4000" b="1" dirty="0" smtClean="0">
                <a:solidFill>
                  <a:srgbClr val="002060"/>
                </a:solidFill>
                <a:latin typeface="Times New Roman" panose="02020603050405020304" pitchFamily="18" charset="0"/>
                <a:cs typeface="Times New Roman" panose="02020603050405020304" pitchFamily="18" charset="0"/>
              </a:rPr>
              <a:t>Techniques</a:t>
            </a:r>
            <a:r>
              <a:rPr lang="en-US" sz="4000" b="1" dirty="0" smtClean="0">
                <a:solidFill>
                  <a:srgbClr val="002060"/>
                </a:solidFill>
              </a:rPr>
              <a:t>       </a:t>
            </a:r>
            <a:endParaRPr lang="en-US" sz="4000" b="1" dirty="0">
              <a:solidFill>
                <a:srgbClr val="002060"/>
              </a:solidFill>
            </a:endParaRPr>
          </a:p>
        </p:txBody>
      </p:sp>
      <p:sp>
        <p:nvSpPr>
          <p:cNvPr id="3" name="Subtitle 2"/>
          <p:cNvSpPr>
            <a:spLocks noGrp="1"/>
          </p:cNvSpPr>
          <p:nvPr>
            <p:ph type="subTitle" idx="1"/>
          </p:nvPr>
        </p:nvSpPr>
        <p:spPr>
          <a:xfrm>
            <a:off x="1537692" y="4383741"/>
            <a:ext cx="9247094" cy="1655664"/>
          </a:xfrm>
        </p:spPr>
        <p:txBody>
          <a:bodyPr>
            <a:normAutofit fontScale="92500" lnSpcReduction="10000"/>
          </a:bodyPr>
          <a:lstStyle/>
          <a:p>
            <a:pPr algn="just"/>
            <a:r>
              <a:rPr lang="en-US" b="1" dirty="0" smtClean="0">
                <a:ln w="0"/>
                <a:effectLst>
                  <a:outerShdw blurRad="38100" dist="19050" dir="2700000" algn="tl" rotWithShape="0">
                    <a:schemeClr val="dk1">
                      <a:alpha val="40000"/>
                    </a:schemeClr>
                  </a:outerShdw>
                </a:effectLst>
              </a:rPr>
              <a:t>                                                                       </a:t>
            </a:r>
            <a:r>
              <a:rPr lang="en-US" dirty="0" smtClean="0">
                <a:ln w="0"/>
                <a:latin typeface="Times New Roman" panose="02020603050405020304" pitchFamily="18" charset="0"/>
                <a:cs typeface="Times New Roman" panose="02020603050405020304" pitchFamily="18" charset="0"/>
              </a:rPr>
              <a:t>   </a:t>
            </a:r>
            <a:endParaRPr lang="en-US" b="1" dirty="0" smtClean="0">
              <a:ln w="0"/>
              <a:effectLst>
                <a:outerShdw blurRad="38100" dist="19050" dir="2700000" algn="tl" rotWithShape="0">
                  <a:schemeClr val="dk1">
                    <a:alpha val="40000"/>
                  </a:schemeClr>
                </a:outerShdw>
              </a:effectLst>
            </a:endParaRPr>
          </a:p>
          <a:p>
            <a:pPr algn="just"/>
            <a:r>
              <a:rPr lang="en-US" altLang="en-US" dirty="0" smtClean="0">
                <a:latin typeface="Times New Roman" panose="02020603050405020304" pitchFamily="18" charset="0"/>
                <a:cs typeface="Times New Roman" panose="02020603050405020304" pitchFamily="18" charset="0"/>
              </a:rPr>
              <a:t>Under the guidance of                                                                                        By:    </a:t>
            </a:r>
          </a:p>
          <a:p>
            <a:r>
              <a:rPr lang="en-US" altLang="en-US" dirty="0" smtClean="0">
                <a:latin typeface="Times New Roman" panose="02020603050405020304" pitchFamily="18" charset="0"/>
                <a:cs typeface="Times New Roman" panose="02020603050405020304" pitchFamily="18" charset="0"/>
              </a:rPr>
              <a:t> </a:t>
            </a:r>
            <a:r>
              <a:rPr lang="en-US" altLang="en-US" dirty="0">
                <a:latin typeface="Times New Roman" panose="02020603050405020304" pitchFamily="18" charset="0"/>
                <a:cs typeface="Times New Roman" panose="02020603050405020304" pitchFamily="18" charset="0"/>
              </a:rPr>
              <a:t>M. </a:t>
            </a:r>
            <a:r>
              <a:rPr lang="en-US" altLang="en-US" dirty="0" err="1">
                <a:latin typeface="Times New Roman" panose="02020603050405020304" pitchFamily="18" charset="0"/>
                <a:cs typeface="Times New Roman" panose="02020603050405020304" pitchFamily="18" charset="0"/>
              </a:rPr>
              <a:t>Dattatreya</a:t>
            </a:r>
            <a:r>
              <a:rPr lang="en-US" altLang="en-US" dirty="0">
                <a:latin typeface="Times New Roman" panose="02020603050405020304" pitchFamily="18" charset="0"/>
                <a:cs typeface="Times New Roman" panose="02020603050405020304" pitchFamily="18" charset="0"/>
              </a:rPr>
              <a:t> </a:t>
            </a:r>
            <a:r>
              <a:rPr lang="en-US" altLang="en-US" dirty="0" err="1" smtClean="0">
                <a:latin typeface="Times New Roman" panose="02020603050405020304" pitchFamily="18" charset="0"/>
                <a:cs typeface="Times New Roman" panose="02020603050405020304" pitchFamily="18" charset="0"/>
              </a:rPr>
              <a:t>Goud</a:t>
            </a:r>
            <a:r>
              <a:rPr lang="en-US" altLang="en-US" dirty="0" smtClean="0">
                <a:latin typeface="Times New Roman" panose="02020603050405020304" pitchFamily="18" charset="0"/>
                <a:cs typeface="Times New Roman" panose="02020603050405020304" pitchFamily="18" charset="0"/>
              </a:rPr>
              <a:t>                                                                </a:t>
            </a:r>
            <a:r>
              <a:rPr lang="en-US" dirty="0" err="1" smtClean="0">
                <a:ln w="0"/>
                <a:latin typeface="Times New Roman" panose="02020603050405020304" pitchFamily="18" charset="0"/>
                <a:cs typeface="Times New Roman" panose="02020603050405020304" pitchFamily="18" charset="0"/>
              </a:rPr>
              <a:t>Vijayalaxmi</a:t>
            </a:r>
            <a:r>
              <a:rPr lang="en-US" dirty="0" smtClean="0">
                <a:ln w="0"/>
                <a:latin typeface="Times New Roman" panose="02020603050405020304" pitchFamily="18" charset="0"/>
                <a:cs typeface="Times New Roman" panose="02020603050405020304" pitchFamily="18" charset="0"/>
              </a:rPr>
              <a:t> </a:t>
            </a:r>
            <a:r>
              <a:rPr lang="en-US" dirty="0" err="1" smtClean="0">
                <a:ln w="0"/>
                <a:latin typeface="Times New Roman" panose="02020603050405020304" pitchFamily="18" charset="0"/>
                <a:cs typeface="Times New Roman" panose="02020603050405020304" pitchFamily="18" charset="0"/>
              </a:rPr>
              <a:t>Biradar</a:t>
            </a:r>
            <a:r>
              <a:rPr lang="en-US" dirty="0" smtClean="0">
                <a:ln w="0"/>
                <a:latin typeface="Times New Roman" panose="02020603050405020304" pitchFamily="18" charset="0"/>
                <a:cs typeface="Times New Roman" panose="02020603050405020304" pitchFamily="18" charset="0"/>
              </a:rPr>
              <a:t> </a:t>
            </a:r>
          </a:p>
          <a:p>
            <a:pPr algn="r"/>
            <a:r>
              <a:rPr lang="en-US" dirty="0" smtClean="0">
                <a:ln w="0"/>
                <a:latin typeface="Times New Roman" panose="02020603050405020304" pitchFamily="18" charset="0"/>
                <a:cs typeface="Times New Roman" panose="02020603050405020304" pitchFamily="18" charset="0"/>
              </a:rPr>
              <a:t>1608-21-733-312</a:t>
            </a:r>
            <a:endParaRPr lang="en-US" dirty="0" smtClean="0">
              <a:ln w="0"/>
              <a:latin typeface="Times New Roman" panose="02020603050405020304" pitchFamily="18" charset="0"/>
              <a:cs typeface="Times New Roman" panose="02020603050405020304" pitchFamily="18" charset="0"/>
            </a:endParaRPr>
          </a:p>
        </p:txBody>
      </p:sp>
      <p:pic>
        <p:nvPicPr>
          <p:cNvPr id="2073" name="Picture 25" descr="PHOTO-2022-04-18-14-54-09"/>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928113" y="232901"/>
            <a:ext cx="920393" cy="887259"/>
          </a:xfrm>
          <a:prstGeom prst="rect">
            <a:avLst/>
          </a:prstGeom>
          <a:noFill/>
          <a:extLst>
            <a:ext uri="{909E8E84-426E-40DD-AFC4-6F175D3DCCD1}">
              <a14:hiddenFill xmlns:a14="http://schemas.microsoft.com/office/drawing/2010/main">
                <a:solidFill>
                  <a:srgbClr val="FFFFFF"/>
                </a:solidFill>
              </a14:hiddenFill>
            </a:ext>
          </a:extLst>
        </p:spPr>
      </p:pic>
      <p:pic>
        <p:nvPicPr>
          <p:cNvPr id="2071" name="Picture 5" descr="MECS LOGO"/>
          <p:cNvPicPr>
            <a:picLocks noChangeAspect="1" noChangeArrowheads="1"/>
          </p:cNvPicPr>
          <p:nvPr/>
        </p:nvPicPr>
        <p:blipFill>
          <a:blip r:embed="rId3" cstate="print">
            <a:extLst>
              <a:ext uri="{28A0092B-C50C-407E-A947-70E740481C1C}">
                <a14:useLocalDpi xmlns:a14="http://schemas.microsoft.com/office/drawing/2010/main" val="0"/>
              </a:ext>
            </a:extLst>
          </a:blip>
          <a:srcRect l="6293" r="5615"/>
          <a:stretch>
            <a:fillRect/>
          </a:stretch>
        </p:blipFill>
        <p:spPr bwMode="auto">
          <a:xfrm>
            <a:off x="1374350" y="101466"/>
            <a:ext cx="1105565" cy="1150128"/>
          </a:xfrm>
          <a:prstGeom prst="rect">
            <a:avLst/>
          </a:prstGeom>
          <a:noFill/>
          <a:extLst>
            <a:ext uri="{909E8E84-426E-40DD-AFC4-6F175D3DCCD1}">
              <a14:hiddenFill xmlns:a14="http://schemas.microsoft.com/office/drawing/2010/main">
                <a:solidFill>
                  <a:srgbClr val="FFFFFF"/>
                </a:solidFill>
              </a14:hiddenFill>
            </a:ext>
          </a:extLst>
        </p:spPr>
      </p:pic>
      <p:pic>
        <p:nvPicPr>
          <p:cNvPr id="2072" name="Picture 24" descr="nba"/>
          <p:cNvPicPr>
            <a:picLocks noChangeAspect="1" noChangeArrowheads="1"/>
          </p:cNvPicPr>
          <p:nvPr/>
        </p:nvPicPr>
        <p:blipFill>
          <a:blip r:embed="rId4" cstate="print">
            <a:extLst>
              <a:ext uri="{28A0092B-C50C-407E-A947-70E740481C1C}">
                <a14:useLocalDpi xmlns:a14="http://schemas.microsoft.com/office/drawing/2010/main" val="0"/>
              </a:ext>
            </a:extLst>
          </a:blip>
          <a:srcRect t="8249" b="5992"/>
          <a:stretch>
            <a:fillRect/>
          </a:stretch>
        </p:blipFill>
        <p:spPr bwMode="auto">
          <a:xfrm>
            <a:off x="8818250" y="214844"/>
            <a:ext cx="1103621" cy="926734"/>
          </a:xfrm>
          <a:prstGeom prst="rect">
            <a:avLst/>
          </a:prstGeom>
          <a:noFill/>
          <a:extLst>
            <a:ext uri="{909E8E84-426E-40DD-AFC4-6F175D3DCCD1}">
              <a14:hiddenFill xmlns:a14="http://schemas.microsoft.com/office/drawing/2010/main">
                <a:solidFill>
                  <a:srgbClr val="FFFFFF"/>
                </a:solidFill>
              </a14:hiddenFill>
            </a:ext>
          </a:extLst>
        </p:spPr>
      </p:pic>
      <p:sp>
        <p:nvSpPr>
          <p:cNvPr id="17" name="Rectangle 26"/>
          <p:cNvSpPr>
            <a:spLocks noChangeArrowheads="1"/>
          </p:cNvSpPr>
          <p:nvPr/>
        </p:nvSpPr>
        <p:spPr bwMode="auto">
          <a:xfrm>
            <a:off x="3095897" y="1214845"/>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8" name="Rectangle 27"/>
          <p:cNvSpPr>
            <a:spLocks noChangeArrowheads="1"/>
          </p:cNvSpPr>
          <p:nvPr/>
        </p:nvSpPr>
        <p:spPr bwMode="auto">
          <a:xfrm>
            <a:off x="2145638" y="-410632"/>
            <a:ext cx="7046259" cy="26468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457200" algn="r"/>
                <a:tab pos="2865438" algn="ctr"/>
                <a:tab pos="5730875" algn="r"/>
              </a:tabLst>
              <a:defRPr>
                <a:solidFill>
                  <a:schemeClr val="tx1"/>
                </a:solidFill>
                <a:latin typeface="Arial" panose="020B0604020202020204" pitchFamily="34" charset="0"/>
              </a:defRPr>
            </a:lvl1pPr>
            <a:lvl2pPr eaLnBrk="0" fontAlgn="base" hangingPunct="0">
              <a:spcBef>
                <a:spcPct val="0"/>
              </a:spcBef>
              <a:spcAft>
                <a:spcPct val="0"/>
              </a:spcAft>
              <a:tabLst>
                <a:tab pos="457200" algn="r"/>
                <a:tab pos="2865438" algn="ctr"/>
                <a:tab pos="5730875" algn="r"/>
              </a:tabLst>
              <a:defRPr>
                <a:solidFill>
                  <a:schemeClr val="tx1"/>
                </a:solidFill>
                <a:latin typeface="Arial" panose="020B0604020202020204" pitchFamily="34" charset="0"/>
              </a:defRPr>
            </a:lvl2pPr>
            <a:lvl3pPr eaLnBrk="0" fontAlgn="base" hangingPunct="0">
              <a:spcBef>
                <a:spcPct val="0"/>
              </a:spcBef>
              <a:spcAft>
                <a:spcPct val="0"/>
              </a:spcAft>
              <a:tabLst>
                <a:tab pos="457200" algn="r"/>
                <a:tab pos="2865438" algn="ctr"/>
                <a:tab pos="5730875" algn="r"/>
              </a:tabLst>
              <a:defRPr>
                <a:solidFill>
                  <a:schemeClr val="tx1"/>
                </a:solidFill>
                <a:latin typeface="Arial" panose="020B0604020202020204" pitchFamily="34" charset="0"/>
              </a:defRPr>
            </a:lvl3pPr>
            <a:lvl4pPr eaLnBrk="0" fontAlgn="base" hangingPunct="0">
              <a:spcBef>
                <a:spcPct val="0"/>
              </a:spcBef>
              <a:spcAft>
                <a:spcPct val="0"/>
              </a:spcAft>
              <a:tabLst>
                <a:tab pos="457200" algn="r"/>
                <a:tab pos="2865438" algn="ctr"/>
                <a:tab pos="5730875" algn="r"/>
              </a:tabLst>
              <a:defRPr>
                <a:solidFill>
                  <a:schemeClr val="tx1"/>
                </a:solidFill>
                <a:latin typeface="Arial" panose="020B0604020202020204" pitchFamily="34" charset="0"/>
              </a:defRPr>
            </a:lvl4pPr>
            <a:lvl5pPr eaLnBrk="0" fontAlgn="base" hangingPunct="0">
              <a:spcBef>
                <a:spcPct val="0"/>
              </a:spcBef>
              <a:spcAft>
                <a:spcPct val="0"/>
              </a:spcAft>
              <a:tabLst>
                <a:tab pos="457200" algn="r"/>
                <a:tab pos="2865438" algn="ctr"/>
                <a:tab pos="5730875" algn="r"/>
              </a:tabLst>
              <a:defRPr>
                <a:solidFill>
                  <a:schemeClr val="tx1"/>
                </a:solidFill>
                <a:latin typeface="Arial" panose="020B0604020202020204" pitchFamily="34" charset="0"/>
              </a:defRPr>
            </a:lvl5pPr>
            <a:lvl6pPr eaLnBrk="0" fontAlgn="base" hangingPunct="0">
              <a:spcBef>
                <a:spcPct val="0"/>
              </a:spcBef>
              <a:spcAft>
                <a:spcPct val="0"/>
              </a:spcAft>
              <a:tabLst>
                <a:tab pos="457200" algn="r"/>
                <a:tab pos="2865438" algn="ctr"/>
                <a:tab pos="5730875" algn="r"/>
              </a:tabLst>
              <a:defRPr>
                <a:solidFill>
                  <a:schemeClr val="tx1"/>
                </a:solidFill>
                <a:latin typeface="Arial" panose="020B0604020202020204" pitchFamily="34" charset="0"/>
              </a:defRPr>
            </a:lvl6pPr>
            <a:lvl7pPr eaLnBrk="0" fontAlgn="base" hangingPunct="0">
              <a:spcBef>
                <a:spcPct val="0"/>
              </a:spcBef>
              <a:spcAft>
                <a:spcPct val="0"/>
              </a:spcAft>
              <a:tabLst>
                <a:tab pos="457200" algn="r"/>
                <a:tab pos="2865438" algn="ctr"/>
                <a:tab pos="5730875" algn="r"/>
              </a:tabLst>
              <a:defRPr>
                <a:solidFill>
                  <a:schemeClr val="tx1"/>
                </a:solidFill>
                <a:latin typeface="Arial" panose="020B0604020202020204" pitchFamily="34" charset="0"/>
              </a:defRPr>
            </a:lvl7pPr>
            <a:lvl8pPr eaLnBrk="0" fontAlgn="base" hangingPunct="0">
              <a:spcBef>
                <a:spcPct val="0"/>
              </a:spcBef>
              <a:spcAft>
                <a:spcPct val="0"/>
              </a:spcAft>
              <a:tabLst>
                <a:tab pos="457200" algn="r"/>
                <a:tab pos="2865438" algn="ctr"/>
                <a:tab pos="5730875" algn="r"/>
              </a:tabLst>
              <a:defRPr>
                <a:solidFill>
                  <a:schemeClr val="tx1"/>
                </a:solidFill>
                <a:latin typeface="Arial" panose="020B0604020202020204" pitchFamily="34" charset="0"/>
              </a:defRPr>
            </a:lvl8pPr>
            <a:lvl9pPr eaLnBrk="0" fontAlgn="base" hangingPunct="0">
              <a:spcBef>
                <a:spcPct val="0"/>
              </a:spcBef>
              <a:spcAft>
                <a:spcPct val="0"/>
              </a:spcAft>
              <a:tabLst>
                <a:tab pos="457200" algn="r"/>
                <a:tab pos="2865438" algn="ctr"/>
                <a:tab pos="5730875" algn="r"/>
              </a:tabLs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tab pos="457200" algn="r"/>
                <a:tab pos="2865438" algn="ctr"/>
                <a:tab pos="5730875" algn="r"/>
              </a:tabLst>
            </a:pPr>
            <a:endParaRPr kumimoji="0" lang="en-US" sz="3600" b="1" i="0" u="none" strike="noStrike" cap="none" normalizeH="0" baseline="0" dirty="0" smtClean="0">
              <a:ln>
                <a:noFill/>
              </a:ln>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tab pos="457200" algn="r"/>
                <a:tab pos="2865438" algn="ctr"/>
                <a:tab pos="5730875" algn="r"/>
              </a:tabLst>
            </a:pPr>
            <a:r>
              <a:rPr kumimoji="0" lang="en-US" sz="3600" b="1" i="0" u="none" strike="noStrike" cap="none" normalizeH="0" baseline="0" dirty="0" err="1" smtClean="0">
                <a:ln>
                  <a:noFill/>
                </a:ln>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Matrusri</a:t>
            </a:r>
            <a:r>
              <a:rPr kumimoji="0" lang="en-US" sz="3600" b="1" i="0" u="none" strike="noStrike" cap="none" normalizeH="0" baseline="0" dirty="0" smtClean="0">
                <a:ln>
                  <a:noFill/>
                </a:ln>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 </a:t>
            </a:r>
            <a:r>
              <a:rPr kumimoji="0" lang="en-US" sz="3600" b="1" i="0" u="none" strike="noStrike" cap="none" normalizeH="0" baseline="0" dirty="0">
                <a:ln>
                  <a:noFill/>
                </a:ln>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Engineering College</a:t>
            </a:r>
            <a:endParaRPr kumimoji="0" lang="en-US" sz="3600" b="0" i="0" u="none" strike="noStrike" cap="none" normalizeH="0" baseline="0" dirty="0">
              <a:ln>
                <a:noFill/>
              </a:ln>
              <a:solidFill>
                <a:schemeClr val="tx1"/>
              </a:solidFill>
              <a:effectLst/>
            </a:endParaRPr>
          </a:p>
          <a:p>
            <a:pPr marL="0" marR="0" lvl="0" indent="0" algn="ctr" defTabSz="914400" rtl="0" eaLnBrk="0" fontAlgn="base" latinLnBrk="0" hangingPunct="0">
              <a:lnSpc>
                <a:spcPct val="100000"/>
              </a:lnSpc>
              <a:spcBef>
                <a:spcPct val="0"/>
              </a:spcBef>
              <a:spcAft>
                <a:spcPct val="0"/>
              </a:spcAft>
              <a:buClrTx/>
              <a:buSzTx/>
              <a:buFontTx/>
              <a:buNone/>
              <a:tabLst>
                <a:tab pos="457200" algn="r"/>
                <a:tab pos="2865438" algn="ctr"/>
                <a:tab pos="5730875" algn="r"/>
              </a:tabLst>
            </a:pPr>
            <a:r>
              <a:rPr kumimoji="0" lang="en-US" sz="3200" b="0" i="0" u="none" strike="noStrike" cap="none" normalizeH="0" baseline="0" dirty="0">
                <a:ln>
                  <a:noFill/>
                </a:ln>
                <a:solidFill>
                  <a:srgbClr val="538135"/>
                </a:solidFill>
                <a:effectLst/>
                <a:latin typeface="Times New Roman" panose="02020603050405020304" pitchFamily="18" charset="0"/>
                <a:ea typeface="Calibri" panose="020F0502020204030204" pitchFamily="34" charset="0"/>
                <a:cs typeface="Times New Roman" panose="02020603050405020304" pitchFamily="18" charset="0"/>
              </a:rPr>
              <a:t> </a:t>
            </a:r>
            <a:r>
              <a:rPr kumimoji="0" lang="en-US" sz="1200" b="0" i="0" u="none" strike="noStrike" cap="none" normalizeH="0" baseline="0" dirty="0">
                <a:ln>
                  <a:noFill/>
                </a:ln>
                <a:solidFill>
                  <a:srgbClr val="538135"/>
                </a:solidFill>
                <a:effectLst/>
                <a:latin typeface="Times New Roman" panose="02020603050405020304" pitchFamily="18" charset="0"/>
                <a:ea typeface="Calibri" panose="020F0502020204030204" pitchFamily="34" charset="0"/>
                <a:cs typeface="Times New Roman" panose="02020603050405020304" pitchFamily="18" charset="0"/>
              </a:rPr>
              <a:t>     (Sponsored by: MATRUSRI ERDUCATION SOCIETY, </a:t>
            </a:r>
            <a:r>
              <a:rPr kumimoji="0" lang="en-US" sz="1200" b="0" i="0" u="none" strike="noStrike" cap="none" normalizeH="0" baseline="0" dirty="0" err="1">
                <a:ln>
                  <a:noFill/>
                </a:ln>
                <a:solidFill>
                  <a:srgbClr val="538135"/>
                </a:solidFill>
                <a:effectLst/>
                <a:latin typeface="Times New Roman" panose="02020603050405020304" pitchFamily="18" charset="0"/>
                <a:ea typeface="Calibri" panose="020F0502020204030204" pitchFamily="34" charset="0"/>
                <a:cs typeface="Times New Roman" panose="02020603050405020304" pitchFamily="18" charset="0"/>
              </a:rPr>
              <a:t>Estd</a:t>
            </a:r>
            <a:r>
              <a:rPr kumimoji="0" lang="en-US" sz="1200" b="0" i="0" u="none" strike="noStrike" cap="none" normalizeH="0" baseline="0" dirty="0">
                <a:ln>
                  <a:noFill/>
                </a:ln>
                <a:solidFill>
                  <a:srgbClr val="538135"/>
                </a:solidFill>
                <a:effectLst/>
                <a:latin typeface="Times New Roman" panose="02020603050405020304" pitchFamily="18" charset="0"/>
                <a:ea typeface="Calibri" panose="020F0502020204030204" pitchFamily="34" charset="0"/>
                <a:cs typeface="Times New Roman" panose="02020603050405020304" pitchFamily="18" charset="0"/>
              </a:rPr>
              <a:t>: 1980)</a:t>
            </a:r>
            <a:endParaRPr kumimoji="0" lang="en-US" sz="1200" b="0" i="0" u="none" strike="noStrike" cap="none" normalizeH="0" baseline="0" dirty="0">
              <a:ln>
                <a:noFill/>
              </a:ln>
              <a:solidFill>
                <a:schemeClr val="tx1"/>
              </a:solidFill>
              <a:effectLst/>
            </a:endParaRPr>
          </a:p>
          <a:p>
            <a:pPr marL="0" marR="0" lvl="0" indent="0" algn="ctr" defTabSz="914400" rtl="0" eaLnBrk="0" fontAlgn="base" latinLnBrk="0" hangingPunct="0">
              <a:lnSpc>
                <a:spcPct val="100000"/>
              </a:lnSpc>
              <a:spcBef>
                <a:spcPct val="0"/>
              </a:spcBef>
              <a:spcAft>
                <a:spcPct val="0"/>
              </a:spcAft>
              <a:buClrTx/>
              <a:buSzTx/>
              <a:buFontTx/>
              <a:buNone/>
              <a:tabLst>
                <a:tab pos="457200" algn="r"/>
                <a:tab pos="2865438" algn="ctr"/>
                <a:tab pos="5730875" algn="r"/>
              </a:tabLst>
            </a:pPr>
            <a:r>
              <a:rPr kumimoji="0" lang="en-US" sz="1200" b="0" i="0" u="none" strike="noStrike" cap="none" normalizeH="0" baseline="0" dirty="0">
                <a:ln>
                  <a:noFill/>
                </a:ln>
                <a:solidFill>
                  <a:srgbClr val="538135"/>
                </a:solidFill>
                <a:effectLst/>
                <a:latin typeface="Times New Roman" panose="02020603050405020304" pitchFamily="18" charset="0"/>
                <a:ea typeface="Calibri" panose="020F0502020204030204" pitchFamily="34" charset="0"/>
                <a:cs typeface="Times New Roman" panose="02020603050405020304" pitchFamily="18" charset="0"/>
              </a:rPr>
              <a:t> (Approved by AICTE, Affiliated to Osmania University)</a:t>
            </a:r>
            <a:r>
              <a:rPr kumimoji="0" lang="en-US" sz="1200" b="0" i="0" u="none" strike="noStrike" cap="none" normalizeH="0" baseline="0" dirty="0">
                <a:ln>
                  <a:noFill/>
                </a:ln>
                <a:solidFill>
                  <a:schemeClr val="tx1"/>
                </a:solidFill>
                <a:effectLst/>
                <a:ea typeface="Calibri" panose="020F0502020204030204" pitchFamily="34" charset="0"/>
                <a:cs typeface="Times New Roman" panose="02020603050405020304" pitchFamily="18" charset="0"/>
              </a:rPr>
              <a:t> </a:t>
            </a:r>
            <a:endParaRPr kumimoji="0" lang="en-US" sz="1200" b="0" i="0" u="none" strike="noStrike" cap="none" normalizeH="0" baseline="0" dirty="0">
              <a:ln>
                <a:noFill/>
              </a:ln>
              <a:solidFill>
                <a:schemeClr val="tx1"/>
              </a:solidFill>
              <a:effectLst/>
            </a:endParaRPr>
          </a:p>
          <a:p>
            <a:pPr marL="0" marR="0" lvl="0" indent="0" algn="ctr" defTabSz="914400" rtl="0" eaLnBrk="0" fontAlgn="base" latinLnBrk="0" hangingPunct="0">
              <a:lnSpc>
                <a:spcPct val="100000"/>
              </a:lnSpc>
              <a:spcBef>
                <a:spcPct val="0"/>
              </a:spcBef>
              <a:spcAft>
                <a:spcPct val="0"/>
              </a:spcAft>
              <a:buClrTx/>
              <a:buSzTx/>
              <a:buFontTx/>
              <a:buNone/>
              <a:tabLst>
                <a:tab pos="457200" algn="r"/>
                <a:tab pos="2865438" algn="ctr"/>
                <a:tab pos="5730875" algn="r"/>
              </a:tabLst>
            </a:pPr>
            <a:r>
              <a:rPr kumimoji="0" lang="en-US" sz="1200" b="0" i="0" u="none" strike="noStrike" cap="none" normalizeH="0" baseline="0" dirty="0">
                <a:ln>
                  <a:noFill/>
                </a:ln>
                <a:solidFill>
                  <a:srgbClr val="538135"/>
                </a:solidFill>
                <a:effectLst/>
                <a:latin typeface="Times New Roman" panose="02020603050405020304" pitchFamily="18" charset="0"/>
                <a:ea typeface="Calibri" panose="020F0502020204030204" pitchFamily="34" charset="0"/>
                <a:cs typeface="Times New Roman" panose="02020603050405020304" pitchFamily="18" charset="0"/>
              </a:rPr>
              <a:t># 16-1-486, Saidabad, Hyderabad-500059. </a:t>
            </a:r>
            <a:r>
              <a:rPr kumimoji="0" lang="en-US" sz="1200" b="0" i="0" u="none" strike="noStrike" cap="none" normalizeH="0" baseline="0" dirty="0" err="1">
                <a:ln>
                  <a:noFill/>
                </a:ln>
                <a:solidFill>
                  <a:srgbClr val="538135"/>
                </a:solidFill>
                <a:effectLst/>
                <a:latin typeface="Times New Roman" panose="02020603050405020304" pitchFamily="18" charset="0"/>
                <a:ea typeface="Calibri" panose="020F0502020204030204" pitchFamily="34" charset="0"/>
                <a:cs typeface="Times New Roman" panose="02020603050405020304" pitchFamily="18" charset="0"/>
              </a:rPr>
              <a:t>Ph</a:t>
            </a:r>
            <a:r>
              <a:rPr kumimoji="0" lang="en-US" sz="1200" b="0" i="0" u="none" strike="noStrike" cap="none" normalizeH="0" baseline="0" dirty="0">
                <a:ln>
                  <a:noFill/>
                </a:ln>
                <a:solidFill>
                  <a:srgbClr val="538135"/>
                </a:solidFill>
                <a:effectLst/>
                <a:latin typeface="Times New Roman" panose="02020603050405020304" pitchFamily="18" charset="0"/>
                <a:ea typeface="Calibri" panose="020F0502020204030204" pitchFamily="34" charset="0"/>
                <a:cs typeface="Times New Roman" panose="02020603050405020304" pitchFamily="18" charset="0"/>
              </a:rPr>
              <a:t>: 040-24072764</a:t>
            </a:r>
            <a:endParaRPr kumimoji="0" lang="en-US" sz="1100" b="0" i="0" u="none" strike="noStrike" cap="none" normalizeH="0" baseline="0" dirty="0">
              <a:ln>
                <a:noFill/>
              </a:ln>
              <a:solidFill>
                <a:schemeClr val="tx1"/>
              </a:solidFill>
              <a:effectLst/>
            </a:endParaRPr>
          </a:p>
          <a:p>
            <a:pPr marL="0" marR="0" lvl="0" indent="0" algn="ctr" defTabSz="914400" rtl="0" eaLnBrk="0" fontAlgn="base" latinLnBrk="0" hangingPunct="0">
              <a:lnSpc>
                <a:spcPct val="100000"/>
              </a:lnSpc>
              <a:spcBef>
                <a:spcPct val="0"/>
              </a:spcBef>
              <a:spcAft>
                <a:spcPct val="0"/>
              </a:spcAft>
              <a:buClrTx/>
              <a:buSzTx/>
              <a:buFontTx/>
              <a:buNone/>
              <a:tabLst>
                <a:tab pos="457200" algn="r"/>
                <a:tab pos="2865438" algn="ctr"/>
                <a:tab pos="5730875" algn="r"/>
              </a:tabLst>
            </a:pPr>
            <a:r>
              <a:rPr kumimoji="0" lang="en-US" sz="1800" b="1" i="0" u="none" strike="noStrike" cap="none" normalizeH="0" baseline="0" dirty="0" smtClean="0">
                <a:ln>
                  <a:noFill/>
                </a:ln>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    </a:t>
            </a:r>
            <a:r>
              <a:rPr kumimoji="0" lang="en-US" sz="2000" b="1" i="0" u="none" strike="noStrike" cap="none" normalizeH="0" baseline="0" dirty="0" smtClean="0">
                <a:ln>
                  <a:noFill/>
                </a:ln>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 </a:t>
            </a:r>
            <a:r>
              <a:rPr kumimoji="0" lang="en-US" sz="2000" b="1" i="0" u="none" strike="noStrike" cap="none" normalizeH="0" baseline="0" dirty="0">
                <a:ln>
                  <a:noFill/>
                </a:ln>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Department of Computer Science and Engineering</a:t>
            </a:r>
            <a:endParaRPr kumimoji="0" lang="en-US" sz="11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tab pos="457200" algn="r"/>
                <a:tab pos="2865438" algn="ctr"/>
                <a:tab pos="5730875" algn="r"/>
              </a:tabLst>
            </a:pPr>
            <a:endParaRPr kumimoji="0" lang="en-US" sz="1800" b="0" i="0" u="none" strike="noStrike" cap="none" normalizeH="0" baseline="0" dirty="0">
              <a:ln>
                <a:noFill/>
              </a:ln>
              <a:solidFill>
                <a:schemeClr val="tx1"/>
              </a:solidFill>
              <a:effectLst/>
              <a:latin typeface="Arial" panose="020B0604020202020204" pitchFamily="34" charset="0"/>
            </a:endParaRPr>
          </a:p>
        </p:txBody>
      </p:sp>
      <p:sp>
        <p:nvSpPr>
          <p:cNvPr id="19" name="Rectangle 28"/>
          <p:cNvSpPr>
            <a:spLocks noChangeArrowheads="1"/>
          </p:cNvSpPr>
          <p:nvPr/>
        </p:nvSpPr>
        <p:spPr bwMode="auto">
          <a:xfrm>
            <a:off x="2514600" y="1359083"/>
            <a:ext cx="7293279"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tabLst>
                <a:tab pos="2865438" algn="ctr"/>
                <a:tab pos="5730875" algn="r"/>
              </a:tabLst>
              <a:defRPr>
                <a:solidFill>
                  <a:schemeClr val="tx1"/>
                </a:solidFill>
                <a:latin typeface="Arial" panose="020B0604020202020204" pitchFamily="34" charset="0"/>
              </a:defRPr>
            </a:lvl1pPr>
            <a:lvl2pPr eaLnBrk="0" fontAlgn="base" hangingPunct="0">
              <a:spcBef>
                <a:spcPct val="0"/>
              </a:spcBef>
              <a:spcAft>
                <a:spcPct val="0"/>
              </a:spcAft>
              <a:tabLst>
                <a:tab pos="2865438" algn="ctr"/>
                <a:tab pos="5730875" algn="r"/>
              </a:tabLst>
              <a:defRPr>
                <a:solidFill>
                  <a:schemeClr val="tx1"/>
                </a:solidFill>
                <a:latin typeface="Arial" panose="020B0604020202020204" pitchFamily="34" charset="0"/>
              </a:defRPr>
            </a:lvl2pPr>
            <a:lvl3pPr eaLnBrk="0" fontAlgn="base" hangingPunct="0">
              <a:spcBef>
                <a:spcPct val="0"/>
              </a:spcBef>
              <a:spcAft>
                <a:spcPct val="0"/>
              </a:spcAft>
              <a:tabLst>
                <a:tab pos="2865438" algn="ctr"/>
                <a:tab pos="5730875" algn="r"/>
              </a:tabLst>
              <a:defRPr>
                <a:solidFill>
                  <a:schemeClr val="tx1"/>
                </a:solidFill>
                <a:latin typeface="Arial" panose="020B0604020202020204" pitchFamily="34" charset="0"/>
              </a:defRPr>
            </a:lvl3pPr>
            <a:lvl4pPr eaLnBrk="0" fontAlgn="base" hangingPunct="0">
              <a:spcBef>
                <a:spcPct val="0"/>
              </a:spcBef>
              <a:spcAft>
                <a:spcPct val="0"/>
              </a:spcAft>
              <a:tabLst>
                <a:tab pos="2865438" algn="ctr"/>
                <a:tab pos="5730875" algn="r"/>
              </a:tabLst>
              <a:defRPr>
                <a:solidFill>
                  <a:schemeClr val="tx1"/>
                </a:solidFill>
                <a:latin typeface="Arial" panose="020B0604020202020204" pitchFamily="34" charset="0"/>
              </a:defRPr>
            </a:lvl4pPr>
            <a:lvl5pPr eaLnBrk="0" fontAlgn="base" hangingPunct="0">
              <a:spcBef>
                <a:spcPct val="0"/>
              </a:spcBef>
              <a:spcAft>
                <a:spcPct val="0"/>
              </a:spcAft>
              <a:tabLst>
                <a:tab pos="2865438" algn="ctr"/>
                <a:tab pos="5730875" algn="r"/>
              </a:tabLst>
              <a:defRPr>
                <a:solidFill>
                  <a:schemeClr val="tx1"/>
                </a:solidFill>
                <a:latin typeface="Arial" panose="020B0604020202020204" pitchFamily="34" charset="0"/>
              </a:defRPr>
            </a:lvl5pPr>
            <a:lvl6pPr eaLnBrk="0" fontAlgn="base" hangingPunct="0">
              <a:spcBef>
                <a:spcPct val="0"/>
              </a:spcBef>
              <a:spcAft>
                <a:spcPct val="0"/>
              </a:spcAft>
              <a:tabLst>
                <a:tab pos="2865438" algn="ctr"/>
                <a:tab pos="5730875" algn="r"/>
              </a:tabLst>
              <a:defRPr>
                <a:solidFill>
                  <a:schemeClr val="tx1"/>
                </a:solidFill>
                <a:latin typeface="Arial" panose="020B0604020202020204" pitchFamily="34" charset="0"/>
              </a:defRPr>
            </a:lvl6pPr>
            <a:lvl7pPr eaLnBrk="0" fontAlgn="base" hangingPunct="0">
              <a:spcBef>
                <a:spcPct val="0"/>
              </a:spcBef>
              <a:spcAft>
                <a:spcPct val="0"/>
              </a:spcAft>
              <a:tabLst>
                <a:tab pos="2865438" algn="ctr"/>
                <a:tab pos="5730875" algn="r"/>
              </a:tabLst>
              <a:defRPr>
                <a:solidFill>
                  <a:schemeClr val="tx1"/>
                </a:solidFill>
                <a:latin typeface="Arial" panose="020B0604020202020204" pitchFamily="34" charset="0"/>
              </a:defRPr>
            </a:lvl7pPr>
            <a:lvl8pPr eaLnBrk="0" fontAlgn="base" hangingPunct="0">
              <a:spcBef>
                <a:spcPct val="0"/>
              </a:spcBef>
              <a:spcAft>
                <a:spcPct val="0"/>
              </a:spcAft>
              <a:tabLst>
                <a:tab pos="2865438" algn="ctr"/>
                <a:tab pos="5730875" algn="r"/>
              </a:tabLst>
              <a:defRPr>
                <a:solidFill>
                  <a:schemeClr val="tx1"/>
                </a:solidFill>
                <a:latin typeface="Arial" panose="020B0604020202020204" pitchFamily="34" charset="0"/>
              </a:defRPr>
            </a:lvl8pPr>
            <a:lvl9pPr eaLnBrk="0" fontAlgn="base" hangingPunct="0">
              <a:spcBef>
                <a:spcPct val="0"/>
              </a:spcBef>
              <a:spcAft>
                <a:spcPct val="0"/>
              </a:spcAft>
              <a:tabLst>
                <a:tab pos="2865438" algn="ctr"/>
                <a:tab pos="5730875" algn="r"/>
              </a:tabLs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tab pos="2865438" algn="ctr"/>
                <a:tab pos="5730875" algn="r"/>
              </a:tabLst>
            </a:pPr>
            <a:r>
              <a:rPr kumimoji="0" lang="en-US" sz="10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kumimoji="0" lang="en-US" sz="12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endParaRPr kumimoji="0" lang="en-US" sz="1200" b="0" i="0" u="none" strike="noStrike" cap="none" normalizeH="0" baseline="0" dirty="0" smtClean="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2865438" algn="ctr"/>
                <a:tab pos="5730875" algn="r"/>
              </a:tabLst>
            </a:pPr>
            <a:endParaRPr lang="en-US" sz="1200" dirty="0">
              <a:latin typeface="Times New Roman" panose="02020603050405020304" pitchFamily="18" charset="0"/>
              <a:ea typeface="Calibri" panose="020F0502020204030204" pitchFamily="34"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2865438" algn="ctr"/>
                <a:tab pos="5730875" algn="r"/>
              </a:tabLst>
            </a:pPr>
            <a:endParaRPr kumimoji="0" lang="en-US" sz="1200" b="0" i="0" u="none" strike="noStrike" cap="none" normalizeH="0" baseline="0" dirty="0" smtClean="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2865438" algn="ctr"/>
                <a:tab pos="5730875" algn="r"/>
              </a:tabLst>
            </a:pPr>
            <a:r>
              <a:rPr kumimoji="0" lang="en-US" sz="1200" b="0" i="0" u="none" strike="noStrike" cap="none" normalizeH="0" baseline="0" dirty="0" smtClean="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Email-ID</a:t>
            </a:r>
            <a:r>
              <a:rPr kumimoji="0" lang="en-US" sz="12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hodcse@matrusri.edu.in      		                                                             Website: </a:t>
            </a:r>
            <a:r>
              <a:rPr kumimoji="0" lang="en-US" sz="12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hlinkClick r:id="rId5"/>
              </a:rPr>
              <a:t>www.matrusri.edu.in</a:t>
            </a:r>
            <a:endParaRPr kumimoji="0" lang="en-US" sz="12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2865438" algn="ctr"/>
                <a:tab pos="5730875" algn="r"/>
              </a:tabLst>
            </a:pPr>
            <a:endParaRPr kumimoji="0" lang="en-US" sz="12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tab pos="2865438" algn="ctr"/>
                <a:tab pos="5730875" algn="r"/>
              </a:tabLst>
            </a:pPr>
            <a:endParaRPr kumimoji="0" lang="en-US" sz="1200"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94780860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Introduction</a:t>
            </a:r>
            <a:endParaRPr lang="en-US" dirty="0"/>
          </a:p>
        </p:txBody>
      </p:sp>
      <p:sp>
        <p:nvSpPr>
          <p:cNvPr id="7" name="Content Placeholder 6"/>
          <p:cNvSpPr>
            <a:spLocks noGrp="1"/>
          </p:cNvSpPr>
          <p:nvPr>
            <p:ph idx="1"/>
          </p:nvPr>
        </p:nvSpPr>
        <p:spPr/>
        <p:txBody>
          <a:bodyPr/>
          <a:lstStyle/>
          <a:p>
            <a:pPr algn="just"/>
            <a:r>
              <a:rPr lang="en-US" dirty="0" smtClean="0"/>
              <a:t>Spam emails are a growing problem, posing security risks and reducing productivity. Traditional rule-based spam filters fail to keep up with evolving spam tactics, making machine learning a more effective solution. This project focuses on building a spam detection system using Multinomial Naive Bayes (MNB) and TF-IDF </a:t>
            </a:r>
            <a:r>
              <a:rPr lang="en-US" dirty="0" err="1" smtClean="0"/>
              <a:t>vectorization</a:t>
            </a:r>
            <a:r>
              <a:rPr lang="en-US" dirty="0" smtClean="0"/>
              <a:t> for text classification. The goal is to classify emails as spam or non-spam with high accuracy. </a:t>
            </a:r>
            <a:r>
              <a:rPr lang="en-US" smtClean="0"/>
              <a:t>A Flask web application </a:t>
            </a:r>
            <a:r>
              <a:rPr lang="en-US" dirty="0" smtClean="0"/>
              <a:t>is integrated to provide real-time predictions, making the system practical and user-friendly for managing email spam.</a:t>
            </a:r>
            <a:endParaRPr lang="en-US" dirty="0"/>
          </a:p>
        </p:txBody>
      </p:sp>
    </p:spTree>
    <p:extLst>
      <p:ext uri="{BB962C8B-B14F-4D97-AF65-F5344CB8AC3E}">
        <p14:creationId xmlns:p14="http://schemas.microsoft.com/office/powerpoint/2010/main" val="96460159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Existing System</a:t>
            </a:r>
            <a:endParaRPr lang="en-US" dirty="0"/>
          </a:p>
        </p:txBody>
      </p:sp>
      <p:sp>
        <p:nvSpPr>
          <p:cNvPr id="5" name="Content Placeholder 4"/>
          <p:cNvSpPr>
            <a:spLocks noGrp="1"/>
          </p:cNvSpPr>
          <p:nvPr>
            <p:ph idx="1"/>
          </p:nvPr>
        </p:nvSpPr>
        <p:spPr/>
        <p:txBody>
          <a:bodyPr/>
          <a:lstStyle/>
          <a:p>
            <a:pPr algn="just"/>
            <a:r>
              <a:rPr lang="en-US" dirty="0" smtClean="0"/>
              <a:t>The </a:t>
            </a:r>
            <a:r>
              <a:rPr lang="en-US" dirty="0"/>
              <a:t>current system relies on rule-based filtering and keyword matching to detect spam. While it provides basic filtering, it is not efficient in adapting to evolving spam patterns, often resulting in inaccurate classifications and poor detection of advanced spam techniques.</a:t>
            </a:r>
          </a:p>
        </p:txBody>
      </p:sp>
    </p:spTree>
    <p:extLst>
      <p:ext uri="{BB962C8B-B14F-4D97-AF65-F5344CB8AC3E}">
        <p14:creationId xmlns:p14="http://schemas.microsoft.com/office/powerpoint/2010/main" val="25566697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Proposed System</a:t>
            </a:r>
            <a:endParaRPr lang="en-US" dirty="0"/>
          </a:p>
        </p:txBody>
      </p:sp>
      <p:sp>
        <p:nvSpPr>
          <p:cNvPr id="5" name="Content Placeholder 4"/>
          <p:cNvSpPr>
            <a:spLocks noGrp="1"/>
          </p:cNvSpPr>
          <p:nvPr>
            <p:ph idx="1"/>
          </p:nvPr>
        </p:nvSpPr>
        <p:spPr/>
        <p:txBody>
          <a:bodyPr/>
          <a:lstStyle/>
          <a:p>
            <a:pPr algn="just"/>
            <a:r>
              <a:rPr lang="en-US" dirty="0"/>
              <a:t>The proposed system leverages machine learning algorithms for accurate email spam detection. It uses techniques like TF-IDF for feature extraction and models such as Naive Bayes and Logistic Regression for classification. This system adapts to new spam patterns, improving accuracy and reducing false positives and negatives.</a:t>
            </a:r>
          </a:p>
        </p:txBody>
      </p:sp>
    </p:spTree>
    <p:extLst>
      <p:ext uri="{BB962C8B-B14F-4D97-AF65-F5344CB8AC3E}">
        <p14:creationId xmlns:p14="http://schemas.microsoft.com/office/powerpoint/2010/main" val="8809804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Background Knowledge</a:t>
            </a:r>
            <a:endParaRPr lang="en-US" dirty="0"/>
          </a:p>
        </p:txBody>
      </p:sp>
      <p:sp>
        <p:nvSpPr>
          <p:cNvPr id="3" name="Content Placeholder 2"/>
          <p:cNvSpPr>
            <a:spLocks noGrp="1"/>
          </p:cNvSpPr>
          <p:nvPr>
            <p:ph idx="1"/>
          </p:nvPr>
        </p:nvSpPr>
        <p:spPr/>
        <p:txBody>
          <a:bodyPr/>
          <a:lstStyle/>
          <a:p>
            <a:pPr algn="just"/>
            <a:r>
              <a:rPr lang="en-US" dirty="0" smtClean="0"/>
              <a:t>TF-IDF </a:t>
            </a:r>
            <a:r>
              <a:rPr lang="en-US" dirty="0" err="1" smtClean="0"/>
              <a:t>vectorization</a:t>
            </a:r>
            <a:r>
              <a:rPr lang="en-US" dirty="0" smtClean="0"/>
              <a:t> is used to convert text into numerical features for better classification.</a:t>
            </a:r>
          </a:p>
          <a:p>
            <a:pPr algn="just"/>
            <a:r>
              <a:rPr lang="en-US" dirty="0" smtClean="0"/>
              <a:t>Multinomial Naive Bayes (MNB) is a widely used algorithm for text classification tasks like spam detection.</a:t>
            </a:r>
          </a:p>
          <a:p>
            <a:pPr algn="just"/>
            <a:r>
              <a:rPr lang="en-US" dirty="0" smtClean="0"/>
              <a:t>The project integrates machine learning models with a Flask web application for real-time spam prediction.</a:t>
            </a:r>
          </a:p>
          <a:p>
            <a:pPr algn="just"/>
            <a:r>
              <a:rPr lang="en-US" dirty="0" smtClean="0"/>
              <a:t>It focuses on improving accuracy and offering a practical solution for email management.</a:t>
            </a:r>
            <a:endParaRPr lang="en-US" dirty="0"/>
          </a:p>
        </p:txBody>
      </p:sp>
    </p:spTree>
    <p:extLst>
      <p:ext uri="{BB962C8B-B14F-4D97-AF65-F5344CB8AC3E}">
        <p14:creationId xmlns:p14="http://schemas.microsoft.com/office/powerpoint/2010/main" val="31802664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Objectives and Goals </a:t>
            </a:r>
            <a:endParaRPr lang="en-US" dirty="0"/>
          </a:p>
        </p:txBody>
      </p:sp>
      <p:sp>
        <p:nvSpPr>
          <p:cNvPr id="3" name="Content Placeholder 2"/>
          <p:cNvSpPr>
            <a:spLocks noGrp="1"/>
          </p:cNvSpPr>
          <p:nvPr>
            <p:ph idx="1"/>
          </p:nvPr>
        </p:nvSpPr>
        <p:spPr>
          <a:xfrm>
            <a:off x="838200" y="1825625"/>
            <a:ext cx="10515600" cy="4351338"/>
          </a:xfrm>
        </p:spPr>
        <p:txBody>
          <a:bodyPr>
            <a:normAutofit lnSpcReduction="10000"/>
          </a:bodyPr>
          <a:lstStyle/>
          <a:p>
            <a:pPr marL="0" indent="0" algn="just">
              <a:buNone/>
            </a:pPr>
            <a:r>
              <a:rPr lang="en-US" b="1" dirty="0"/>
              <a:t>Internship </a:t>
            </a:r>
            <a:r>
              <a:rPr lang="en-US" b="1" dirty="0" smtClean="0"/>
              <a:t>Objectives:</a:t>
            </a:r>
            <a:endParaRPr lang="en-US" b="1" dirty="0"/>
          </a:p>
          <a:p>
            <a:pPr lvl="0" algn="just"/>
            <a:r>
              <a:rPr lang="en-US" dirty="0" smtClean="0"/>
              <a:t>Practical </a:t>
            </a:r>
            <a:r>
              <a:rPr lang="en-US" dirty="0"/>
              <a:t>Application of Machine Learning </a:t>
            </a:r>
            <a:r>
              <a:rPr lang="en-US" dirty="0" smtClean="0"/>
              <a:t>Concepts</a:t>
            </a:r>
          </a:p>
          <a:p>
            <a:pPr algn="just"/>
            <a:r>
              <a:rPr lang="en-US" dirty="0"/>
              <a:t>Data Handling and Preprocessing</a:t>
            </a:r>
          </a:p>
          <a:p>
            <a:pPr algn="just"/>
            <a:r>
              <a:rPr lang="en-US" dirty="0"/>
              <a:t>Model Deployment and Performance Evaluation</a:t>
            </a:r>
          </a:p>
          <a:p>
            <a:pPr algn="just"/>
            <a:r>
              <a:rPr lang="en-US" dirty="0" smtClean="0"/>
              <a:t>Collaboration </a:t>
            </a:r>
            <a:r>
              <a:rPr lang="en-US" dirty="0"/>
              <a:t>and Communication</a:t>
            </a:r>
          </a:p>
          <a:p>
            <a:pPr marL="0" lvl="0" indent="0" algn="just">
              <a:buNone/>
            </a:pPr>
            <a:r>
              <a:rPr lang="en-US" b="1" dirty="0" smtClean="0"/>
              <a:t>Goals:</a:t>
            </a:r>
          </a:p>
          <a:p>
            <a:pPr algn="just"/>
            <a:r>
              <a:rPr lang="en-US" dirty="0"/>
              <a:t>Develop a Functional Spam Detection </a:t>
            </a:r>
            <a:r>
              <a:rPr lang="en-US" dirty="0" smtClean="0"/>
              <a:t>System</a:t>
            </a:r>
          </a:p>
          <a:p>
            <a:pPr algn="just"/>
            <a:r>
              <a:rPr lang="en-US" dirty="0"/>
              <a:t>Acquire Proficiency in Machine Learning and Web </a:t>
            </a:r>
            <a:r>
              <a:rPr lang="en-US" dirty="0" smtClean="0"/>
              <a:t>Development</a:t>
            </a:r>
          </a:p>
          <a:p>
            <a:pPr algn="just"/>
            <a:r>
              <a:rPr lang="en-US" dirty="0"/>
              <a:t>Improve Problem-solving and Critical Thinking Abilities</a:t>
            </a:r>
            <a:endParaRPr lang="en-US" dirty="0" smtClean="0"/>
          </a:p>
          <a:p>
            <a:pPr marL="0" lvl="0" indent="0" algn="just">
              <a:buNone/>
            </a:pPr>
            <a:endParaRPr lang="en-US" dirty="0"/>
          </a:p>
        </p:txBody>
      </p:sp>
    </p:spTree>
    <p:extLst>
      <p:ext uri="{BB962C8B-B14F-4D97-AF65-F5344CB8AC3E}">
        <p14:creationId xmlns:p14="http://schemas.microsoft.com/office/powerpoint/2010/main" val="139792793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Roles and responsibilities</a:t>
            </a:r>
            <a:endParaRPr lang="en-US" dirty="0"/>
          </a:p>
        </p:txBody>
      </p:sp>
      <p:sp>
        <p:nvSpPr>
          <p:cNvPr id="3" name="Content Placeholder 2"/>
          <p:cNvSpPr>
            <a:spLocks noGrp="1"/>
          </p:cNvSpPr>
          <p:nvPr>
            <p:ph idx="1"/>
          </p:nvPr>
        </p:nvSpPr>
        <p:spPr/>
        <p:txBody>
          <a:bodyPr/>
          <a:lstStyle/>
          <a:p>
            <a:r>
              <a:rPr lang="en-US" dirty="0" smtClean="0"/>
              <a:t>Preprocessed data and applied TF-IDF for feature extraction.</a:t>
            </a:r>
          </a:p>
          <a:p>
            <a:r>
              <a:rPr lang="en-US" dirty="0" smtClean="0"/>
              <a:t>Implemented machine learning algorithms and tuned models.</a:t>
            </a:r>
          </a:p>
          <a:p>
            <a:r>
              <a:rPr lang="en-US" dirty="0" smtClean="0"/>
              <a:t>Evaluated performance and handled data imbalance.</a:t>
            </a:r>
          </a:p>
          <a:p>
            <a:r>
              <a:rPr lang="en-US" dirty="0" smtClean="0"/>
              <a:t>Documented the project process and results.</a:t>
            </a:r>
            <a:endParaRPr lang="en-US" dirty="0"/>
          </a:p>
        </p:txBody>
      </p:sp>
    </p:spTree>
    <p:extLst>
      <p:ext uri="{BB962C8B-B14F-4D97-AF65-F5344CB8AC3E}">
        <p14:creationId xmlns:p14="http://schemas.microsoft.com/office/powerpoint/2010/main" val="147596306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Skills Acquired/Developed</a:t>
            </a:r>
            <a:endParaRPr lang="en-US" dirty="0"/>
          </a:p>
        </p:txBody>
      </p:sp>
      <p:sp>
        <p:nvSpPr>
          <p:cNvPr id="3" name="Content Placeholder 2"/>
          <p:cNvSpPr>
            <a:spLocks noGrp="1"/>
          </p:cNvSpPr>
          <p:nvPr>
            <p:ph idx="1"/>
          </p:nvPr>
        </p:nvSpPr>
        <p:spPr/>
        <p:txBody>
          <a:bodyPr>
            <a:normAutofit lnSpcReduction="10000"/>
          </a:bodyPr>
          <a:lstStyle/>
          <a:p>
            <a:pPr lvl="0" algn="just"/>
            <a:r>
              <a:rPr lang="en-US" b="1" dirty="0" smtClean="0"/>
              <a:t>Python </a:t>
            </a:r>
            <a:r>
              <a:rPr lang="en-US" b="1" dirty="0"/>
              <a:t>Programming</a:t>
            </a:r>
            <a:r>
              <a:rPr lang="en-US" dirty="0"/>
              <a:t>: Strong foundation in Python syntax and libraries.</a:t>
            </a:r>
          </a:p>
          <a:p>
            <a:pPr lvl="0" algn="just"/>
            <a:r>
              <a:rPr lang="en-US" b="1" dirty="0"/>
              <a:t>Machine Learning Fundamentals</a:t>
            </a:r>
            <a:r>
              <a:rPr lang="en-US" dirty="0"/>
              <a:t>: Understanding classification algorithms and evaluation metrics.</a:t>
            </a:r>
          </a:p>
          <a:p>
            <a:pPr lvl="0" algn="just"/>
            <a:r>
              <a:rPr lang="en-US" b="1" dirty="0"/>
              <a:t>Data Preprocessing and Cleaning</a:t>
            </a:r>
            <a:r>
              <a:rPr lang="en-US" dirty="0"/>
              <a:t>: Handling missing values and preparing text data.</a:t>
            </a:r>
          </a:p>
          <a:p>
            <a:pPr lvl="0" algn="just"/>
            <a:r>
              <a:rPr lang="en-US" b="1" dirty="0"/>
              <a:t>Web Development Basics</a:t>
            </a:r>
            <a:r>
              <a:rPr lang="en-US" dirty="0"/>
              <a:t>: Knowledge of Flask framework and how to build web-based services.</a:t>
            </a:r>
          </a:p>
          <a:p>
            <a:pPr lvl="0" algn="just"/>
            <a:r>
              <a:rPr lang="en-US" b="1" dirty="0"/>
              <a:t>Model Deployment</a:t>
            </a:r>
            <a:r>
              <a:rPr lang="en-US" dirty="0"/>
              <a:t>: Skills in integrating machine learning models with web applications</a:t>
            </a:r>
            <a:r>
              <a:rPr lang="en-US" dirty="0" smtClean="0"/>
              <a:t>.</a:t>
            </a:r>
            <a:endParaRPr lang="en-US" dirty="0"/>
          </a:p>
        </p:txBody>
      </p:sp>
    </p:spTree>
    <p:extLst>
      <p:ext uri="{BB962C8B-B14F-4D97-AF65-F5344CB8AC3E}">
        <p14:creationId xmlns:p14="http://schemas.microsoft.com/office/powerpoint/2010/main" val="139376765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Challenges Faced and problem solved</a:t>
            </a:r>
            <a:endParaRPr lang="en-US" dirty="0"/>
          </a:p>
        </p:txBody>
      </p:sp>
      <p:sp>
        <p:nvSpPr>
          <p:cNvPr id="3" name="Content Placeholder 2"/>
          <p:cNvSpPr>
            <a:spLocks noGrp="1"/>
          </p:cNvSpPr>
          <p:nvPr>
            <p:ph idx="1"/>
          </p:nvPr>
        </p:nvSpPr>
        <p:spPr/>
        <p:txBody>
          <a:bodyPr/>
          <a:lstStyle/>
          <a:p>
            <a:pPr algn="just"/>
            <a:r>
              <a:rPr lang="en-US" dirty="0" smtClean="0"/>
              <a:t>We tackled imbalanced data with oversampling and class weighting, and improved text </a:t>
            </a:r>
            <a:r>
              <a:rPr lang="en-US" dirty="0" err="1" smtClean="0"/>
              <a:t>vectorization</a:t>
            </a:r>
            <a:r>
              <a:rPr lang="en-US" dirty="0" smtClean="0"/>
              <a:t> using TF-IDF. </a:t>
            </a:r>
            <a:r>
              <a:rPr lang="en-US" dirty="0" err="1" smtClean="0"/>
              <a:t>Hyperparameter</a:t>
            </a:r>
            <a:r>
              <a:rPr lang="en-US" dirty="0" smtClean="0"/>
              <a:t> tuning enhanced model performance, boosting accuracy. These solutions sharpened my problem-solving skills.</a:t>
            </a:r>
            <a:endParaRPr lang="en-US" dirty="0"/>
          </a:p>
        </p:txBody>
      </p:sp>
    </p:spTree>
    <p:extLst>
      <p:ext uri="{BB962C8B-B14F-4D97-AF65-F5344CB8AC3E}">
        <p14:creationId xmlns:p14="http://schemas.microsoft.com/office/powerpoint/2010/main" val="405263427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Achievements and Contributions</a:t>
            </a:r>
            <a:endParaRPr lang="en-US" dirty="0"/>
          </a:p>
        </p:txBody>
      </p:sp>
      <p:sp>
        <p:nvSpPr>
          <p:cNvPr id="3" name="Content Placeholder 2"/>
          <p:cNvSpPr>
            <a:spLocks noGrp="1"/>
          </p:cNvSpPr>
          <p:nvPr>
            <p:ph idx="1"/>
          </p:nvPr>
        </p:nvSpPr>
        <p:spPr/>
        <p:txBody>
          <a:bodyPr/>
          <a:lstStyle/>
          <a:p>
            <a:pPr marL="0" indent="0" algn="just">
              <a:buNone/>
            </a:pPr>
            <a:r>
              <a:rPr lang="en-US" b="1" dirty="0" smtClean="0"/>
              <a:t>Achievements</a:t>
            </a:r>
            <a:r>
              <a:rPr lang="en-US" dirty="0" smtClean="0"/>
              <a:t>:</a:t>
            </a:r>
          </a:p>
          <a:p>
            <a:pPr lvl="0" algn="just"/>
            <a:r>
              <a:rPr lang="en-US" dirty="0"/>
              <a:t>Successful Spam Detection Model Implementation</a:t>
            </a:r>
          </a:p>
          <a:p>
            <a:pPr lvl="0" algn="just"/>
            <a:r>
              <a:rPr lang="en-US" dirty="0"/>
              <a:t>Integration of Machine Learning Model with Web Interface</a:t>
            </a:r>
          </a:p>
          <a:p>
            <a:pPr lvl="0" algn="just"/>
            <a:r>
              <a:rPr lang="en-US" dirty="0"/>
              <a:t>Performance Evaluation and Visualization</a:t>
            </a:r>
          </a:p>
          <a:p>
            <a:pPr marL="0" indent="0" algn="just">
              <a:buNone/>
            </a:pPr>
            <a:r>
              <a:rPr lang="en-US" b="1" dirty="0" smtClean="0"/>
              <a:t>Contributions</a:t>
            </a:r>
            <a:r>
              <a:rPr lang="en-US" dirty="0" smtClean="0"/>
              <a:t>:</a:t>
            </a:r>
          </a:p>
          <a:p>
            <a:pPr lvl="0" algn="just"/>
            <a:r>
              <a:rPr lang="en-US" dirty="0"/>
              <a:t>Model Development and Optimization</a:t>
            </a:r>
          </a:p>
          <a:p>
            <a:pPr algn="just"/>
            <a:r>
              <a:rPr lang="en-US" dirty="0" smtClean="0"/>
              <a:t>Web Application Development</a:t>
            </a:r>
          </a:p>
          <a:p>
            <a:pPr algn="just"/>
            <a:r>
              <a:rPr lang="en-US" dirty="0" smtClean="0"/>
              <a:t>Documentation and Abstract creation</a:t>
            </a:r>
            <a:endParaRPr lang="en-US" dirty="0"/>
          </a:p>
        </p:txBody>
      </p:sp>
    </p:spTree>
    <p:extLst>
      <p:ext uri="{BB962C8B-B14F-4D97-AF65-F5344CB8AC3E}">
        <p14:creationId xmlns:p14="http://schemas.microsoft.com/office/powerpoint/2010/main" val="183444798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Learning Experience and Growth</a:t>
            </a:r>
            <a:endParaRPr lang="en-US" dirty="0"/>
          </a:p>
        </p:txBody>
      </p:sp>
      <p:sp>
        <p:nvSpPr>
          <p:cNvPr id="3" name="Content Placeholder 2"/>
          <p:cNvSpPr>
            <a:spLocks noGrp="1"/>
          </p:cNvSpPr>
          <p:nvPr>
            <p:ph idx="1"/>
          </p:nvPr>
        </p:nvSpPr>
        <p:spPr/>
        <p:txBody>
          <a:bodyPr/>
          <a:lstStyle/>
          <a:p>
            <a:pPr algn="just"/>
            <a:r>
              <a:rPr lang="en-US" dirty="0" smtClean="0"/>
              <a:t>This project improved my skills in machine learning, data preprocessing, and model evaluation. I gained practical experience with algorithms and learned how to enhance model performance, boosting my problem-solving abilities.</a:t>
            </a:r>
            <a:endParaRPr lang="en-US" dirty="0"/>
          </a:p>
        </p:txBody>
      </p:sp>
    </p:spTree>
    <p:extLst>
      <p:ext uri="{BB962C8B-B14F-4D97-AF65-F5344CB8AC3E}">
        <p14:creationId xmlns:p14="http://schemas.microsoft.com/office/powerpoint/2010/main" val="354808489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Result Screens</a:t>
            </a:r>
            <a:r>
              <a:rPr lang="en-US" dirty="0"/>
              <a:t/>
            </a:r>
            <a:br>
              <a:rPr lang="en-US" dirty="0"/>
            </a:br>
            <a:r>
              <a:rPr lang="en-US" dirty="0" smtClean="0"/>
              <a:t/>
            </a:r>
            <a:br>
              <a:rPr lang="en-US" dirty="0" smtClean="0"/>
            </a:br>
            <a:r>
              <a:rPr lang="en-US" dirty="0" smtClean="0"/>
              <a:t>Home page                           Login page</a:t>
            </a:r>
            <a:endParaRPr lang="en-US"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199" y="2272937"/>
            <a:ext cx="4958207" cy="3211693"/>
          </a:xfr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35040" y="2272937"/>
            <a:ext cx="5318760" cy="3211693"/>
          </a:xfrm>
          <a:prstGeom prst="rect">
            <a:avLst/>
          </a:prstGeom>
        </p:spPr>
      </p:pic>
    </p:spTree>
    <p:extLst>
      <p:ext uri="{BB962C8B-B14F-4D97-AF65-F5344CB8AC3E}">
        <p14:creationId xmlns:p14="http://schemas.microsoft.com/office/powerpoint/2010/main" val="12853774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r>
            <a:br>
              <a:rPr lang="en-US" dirty="0" smtClean="0"/>
            </a:br>
            <a:r>
              <a:rPr lang="en-US" dirty="0" smtClean="0"/>
              <a:t>Upload page                     prediction page</a:t>
            </a:r>
            <a:endParaRPr lang="en-US"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050280" y="2194560"/>
            <a:ext cx="5303520" cy="3247392"/>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8200" y="2194560"/>
            <a:ext cx="5044604" cy="3357693"/>
          </a:xfrm>
          <a:prstGeom prst="rect">
            <a:avLst/>
          </a:prstGeom>
        </p:spPr>
      </p:pic>
    </p:spTree>
    <p:extLst>
      <p:ext uri="{BB962C8B-B14F-4D97-AF65-F5344CB8AC3E}">
        <p14:creationId xmlns:p14="http://schemas.microsoft.com/office/powerpoint/2010/main" val="204171549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Future Applications</a:t>
            </a:r>
            <a:endParaRPr lang="en-US" dirty="0"/>
          </a:p>
        </p:txBody>
      </p:sp>
      <p:sp>
        <p:nvSpPr>
          <p:cNvPr id="3" name="Content Placeholder 2"/>
          <p:cNvSpPr>
            <a:spLocks noGrp="1"/>
          </p:cNvSpPr>
          <p:nvPr>
            <p:ph idx="1"/>
          </p:nvPr>
        </p:nvSpPr>
        <p:spPr/>
        <p:txBody>
          <a:bodyPr/>
          <a:lstStyle/>
          <a:p>
            <a:pPr marL="0" indent="0" algn="just">
              <a:buNone/>
            </a:pPr>
            <a:r>
              <a:rPr lang="en-US" dirty="0"/>
              <a:t>Here are some key </a:t>
            </a:r>
            <a:r>
              <a:rPr lang="en-US" b="1" dirty="0"/>
              <a:t>future applications</a:t>
            </a:r>
            <a:r>
              <a:rPr lang="en-US" dirty="0"/>
              <a:t> of spam detection</a:t>
            </a:r>
            <a:r>
              <a:rPr lang="en-US" dirty="0" smtClean="0"/>
              <a:t>:</a:t>
            </a:r>
            <a:endParaRPr lang="en-US" b="1" dirty="0"/>
          </a:p>
          <a:p>
            <a:pPr algn="just"/>
            <a:r>
              <a:rPr lang="en-US" dirty="0" smtClean="0"/>
              <a:t>Social </a:t>
            </a:r>
            <a:r>
              <a:rPr lang="en-US" dirty="0"/>
              <a:t>Media Spam </a:t>
            </a:r>
            <a:r>
              <a:rPr lang="en-US" dirty="0" smtClean="0"/>
              <a:t>Filtering</a:t>
            </a:r>
          </a:p>
          <a:p>
            <a:pPr algn="just"/>
            <a:r>
              <a:rPr lang="en-US" dirty="0" smtClean="0"/>
              <a:t>SMS </a:t>
            </a:r>
            <a:r>
              <a:rPr lang="en-US" dirty="0"/>
              <a:t>Spam Detection</a:t>
            </a:r>
            <a:endParaRPr lang="en-US" b="1" dirty="0"/>
          </a:p>
          <a:p>
            <a:pPr algn="just"/>
            <a:r>
              <a:rPr lang="en-US" dirty="0" smtClean="0"/>
              <a:t>Phishing </a:t>
            </a:r>
            <a:r>
              <a:rPr lang="en-US" dirty="0"/>
              <a:t>Website Detection</a:t>
            </a:r>
            <a:endParaRPr lang="en-US" b="1" dirty="0"/>
          </a:p>
          <a:p>
            <a:pPr algn="just"/>
            <a:r>
              <a:rPr lang="en-US" dirty="0" smtClean="0"/>
              <a:t>Real-Time </a:t>
            </a:r>
            <a:r>
              <a:rPr lang="en-US" dirty="0"/>
              <a:t>Chat and Messaging Apps</a:t>
            </a:r>
            <a:endParaRPr lang="en-US" b="1" dirty="0"/>
          </a:p>
          <a:p>
            <a:pPr algn="just"/>
            <a:r>
              <a:rPr lang="en-US" dirty="0" smtClean="0"/>
              <a:t>Data </a:t>
            </a:r>
            <a:r>
              <a:rPr lang="en-US" dirty="0"/>
              <a:t>Privacy and Security</a:t>
            </a:r>
            <a:endParaRPr lang="en-US" b="1" dirty="0"/>
          </a:p>
          <a:p>
            <a:pPr algn="just"/>
            <a:endParaRPr lang="en-US" dirty="0" smtClean="0"/>
          </a:p>
          <a:p>
            <a:pPr algn="just"/>
            <a:endParaRPr lang="en-US" b="1" dirty="0"/>
          </a:p>
        </p:txBody>
      </p:sp>
    </p:spTree>
    <p:extLst>
      <p:ext uri="{BB962C8B-B14F-4D97-AF65-F5344CB8AC3E}">
        <p14:creationId xmlns:p14="http://schemas.microsoft.com/office/powerpoint/2010/main" val="217641263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Conclusion</a:t>
            </a:r>
            <a:endParaRPr lang="en-US" dirty="0"/>
          </a:p>
        </p:txBody>
      </p:sp>
      <p:sp>
        <p:nvSpPr>
          <p:cNvPr id="3" name="Content Placeholder 2"/>
          <p:cNvSpPr>
            <a:spLocks noGrp="1"/>
          </p:cNvSpPr>
          <p:nvPr>
            <p:ph idx="1"/>
          </p:nvPr>
        </p:nvSpPr>
        <p:spPr/>
        <p:txBody>
          <a:bodyPr/>
          <a:lstStyle/>
          <a:p>
            <a:pPr algn="just"/>
            <a:r>
              <a:rPr lang="en-US" dirty="0" smtClean="0"/>
              <a:t>This project developed an effective Email Spam Detection system using machine learning, achieving high accuracy in classifying emails. Future work could involve using deep learning models for improved performance. The project offers a strong foundation for better email security.</a:t>
            </a:r>
            <a:endParaRPr lang="en-US" dirty="0"/>
          </a:p>
        </p:txBody>
      </p:sp>
    </p:spTree>
    <p:extLst>
      <p:ext uri="{BB962C8B-B14F-4D97-AF65-F5344CB8AC3E}">
        <p14:creationId xmlns:p14="http://schemas.microsoft.com/office/powerpoint/2010/main" val="360534069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lgn="ctr"/>
            <a:endParaRPr lang="en-US" dirty="0" smtClean="0"/>
          </a:p>
          <a:p>
            <a:pPr marL="0" indent="0" algn="ctr">
              <a:buNone/>
            </a:pPr>
            <a:endParaRPr lang="en-US" dirty="0" smtClean="0"/>
          </a:p>
          <a:p>
            <a:pPr marL="0" indent="0" algn="ctr">
              <a:buNone/>
            </a:pPr>
            <a:r>
              <a:rPr lang="en-US" sz="5400" dirty="0" err="1" smtClean="0"/>
              <a:t>Thankyou</a:t>
            </a:r>
            <a:endParaRPr lang="en-US" dirty="0"/>
          </a:p>
        </p:txBody>
      </p:sp>
    </p:spTree>
    <p:extLst>
      <p:ext uri="{BB962C8B-B14F-4D97-AF65-F5344CB8AC3E}">
        <p14:creationId xmlns:p14="http://schemas.microsoft.com/office/powerpoint/2010/main" val="3851676072"/>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73</TotalTime>
  <Words>640</Words>
  <Application>Microsoft Office PowerPoint</Application>
  <PresentationFormat>Widescreen</PresentationFormat>
  <Paragraphs>74</Paragraphs>
  <Slides>16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Calibri</vt:lpstr>
      <vt:lpstr>Calibri Light</vt:lpstr>
      <vt:lpstr>Times New Roman</vt:lpstr>
      <vt:lpstr>Office Theme</vt:lpstr>
      <vt:lpstr>  Summer Internship on Email Spam Detection using Machine Learning Techniques       </vt:lpstr>
      <vt:lpstr>Introduction</vt:lpstr>
      <vt:lpstr>Existing System</vt:lpstr>
      <vt:lpstr>Proposed System</vt:lpstr>
      <vt:lpstr>Background Knowledge</vt:lpstr>
      <vt:lpstr>Objectives and Goals </vt:lpstr>
      <vt:lpstr>Roles and responsibilities</vt:lpstr>
      <vt:lpstr>Skills Acquired/Developed</vt:lpstr>
      <vt:lpstr>Challenges Faced and problem solved</vt:lpstr>
      <vt:lpstr>Achievements and Contributions</vt:lpstr>
      <vt:lpstr>Learning Experience and Growth</vt:lpstr>
      <vt:lpstr>Result Screens  Home page                           Login page</vt:lpstr>
      <vt:lpstr> Upload page                     prediction page</vt:lpstr>
      <vt:lpstr>Future Applications</vt:lpstr>
      <vt:lpstr>Conclusion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Email Spam Detection using Machine Learning Techniques</dc:title>
  <dc:creator>Microsoft account</dc:creator>
  <cp:lastModifiedBy>Microsoft account</cp:lastModifiedBy>
  <cp:revision>9</cp:revision>
  <dcterms:created xsi:type="dcterms:W3CDTF">2025-02-14T11:12:36Z</dcterms:created>
  <dcterms:modified xsi:type="dcterms:W3CDTF">2025-02-14T14:45:21Z</dcterms:modified>
</cp:coreProperties>
</file>